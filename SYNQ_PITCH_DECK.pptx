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0" y="411480"/>
            <a:ext cx="2286000" cy="2286000"/>
          </a:xfrm>
          <a:prstGeom prst="ellipse">
            <a:avLst/>
          </a:prstGeom>
          <a:solidFill>
            <a:srgbClr val="7B6EF6">
              <a:alpha val="9000"/>
            </a:srgbClr>
          </a:solidFill>
          <a:ln w="6350">
            <a:solidFill>
              <a:srgbClr val="7B6EF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05072" y="1261872"/>
            <a:ext cx="100584" cy="658368"/>
          </a:xfrm>
          <a:prstGeom prst="roundRect">
            <a:avLst>
              <a:gd name="adj" fmla="val 36364"/>
            </a:avLst>
          </a:prstGeom>
          <a:solidFill>
            <a:srgbClr val="7B6EF6"/>
          </a:solidFill>
          <a:ln w="12700">
            <a:solidFill>
              <a:srgbClr val="7B6E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87952" y="1005840"/>
            <a:ext cx="100584" cy="1170432"/>
          </a:xfrm>
          <a:prstGeom prst="roundRect">
            <a:avLst>
              <a:gd name="adj" fmla="val 36364"/>
            </a:avLst>
          </a:prstGeom>
          <a:solidFill>
            <a:srgbClr val="7B6EF6"/>
          </a:solidFill>
          <a:ln w="12700">
            <a:solidFill>
              <a:srgbClr val="7B6E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70832" y="1143000"/>
            <a:ext cx="100584" cy="896112"/>
          </a:xfrm>
          <a:prstGeom prst="roundRect">
            <a:avLst>
              <a:gd name="adj" fmla="val 36364"/>
            </a:avLst>
          </a:prstGeom>
          <a:solidFill>
            <a:srgbClr val="7B6EF6"/>
          </a:solidFill>
          <a:ln w="12700">
            <a:solidFill>
              <a:srgbClr val="7B6E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53712" y="1353312"/>
            <a:ext cx="100584" cy="475488"/>
          </a:xfrm>
          <a:prstGeom prst="roundRect">
            <a:avLst>
              <a:gd name="adj" fmla="val 36364"/>
            </a:avLst>
          </a:prstGeom>
          <a:solidFill>
            <a:srgbClr val="7B6EF6"/>
          </a:solidFill>
          <a:ln w="12700">
            <a:solidFill>
              <a:srgbClr val="7B6E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36592" y="1051560"/>
            <a:ext cx="100584" cy="1078992"/>
          </a:xfrm>
          <a:prstGeom prst="roundRect">
            <a:avLst>
              <a:gd name="adj" fmla="val 36364"/>
            </a:avLst>
          </a:prstGeom>
          <a:solidFill>
            <a:srgbClr val="7B6EF6"/>
          </a:solidFill>
          <a:ln w="12700">
            <a:solidFill>
              <a:srgbClr val="7B6E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19472" y="1261872"/>
            <a:ext cx="100584" cy="658368"/>
          </a:xfrm>
          <a:prstGeom prst="roundRect">
            <a:avLst>
              <a:gd name="adj" fmla="val 36364"/>
            </a:avLst>
          </a:prstGeom>
          <a:solidFill>
            <a:srgbClr val="7B6EF6"/>
          </a:solidFill>
          <a:ln w="12700">
            <a:solidFill>
              <a:srgbClr val="7B6E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2578608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Synq</a:t>
            </a:r>
            <a:endParaRPr lang="en-US" sz="7200" dirty="0"/>
          </a:p>
        </p:txBody>
      </p:sp>
      <p:sp>
        <p:nvSpPr>
          <p:cNvPr id="10" name="Shape 8"/>
          <p:cNvSpPr/>
          <p:nvPr/>
        </p:nvSpPr>
        <p:spPr>
          <a:xfrm>
            <a:off x="3977640" y="3401568"/>
            <a:ext cx="1188720" cy="20117"/>
          </a:xfrm>
          <a:prstGeom prst="rect">
            <a:avLst/>
          </a:prstGeom>
          <a:solidFill>
            <a:srgbClr val="7B6EF6"/>
          </a:solidFill>
          <a:ln w="12700">
            <a:solidFill>
              <a:srgbClr val="7B6E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5204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productivity app built for how people actually feel.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4709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synq-web.vercel.app  ·  a16z Speedrun SR007  ·  May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4800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"Productivity apps assume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already okay."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468880" cy="1920240"/>
          </a:xfrm>
          <a:prstGeom prst="rect">
            <a:avLst/>
          </a:prstGeom>
          <a:solidFill>
            <a:srgbClr val="141417"/>
          </a:solidFill>
          <a:ln w="6350">
            <a:solidFill>
              <a:srgbClr val="2C2C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54864" cy="1920240"/>
          </a:xfrm>
          <a:prstGeom prst="rect">
            <a:avLst/>
          </a:prstGeom>
          <a:solidFill>
            <a:srgbClr val="7B6EF6"/>
          </a:solidFill>
          <a:ln w="12700">
            <a:solidFill>
              <a:srgbClr val="7B6E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57276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B6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21792" y="2267712"/>
            <a:ext cx="22128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knowledge workers feel overwhelmed regularly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54680" y="1508760"/>
            <a:ext cx="2468880" cy="1920240"/>
          </a:xfrm>
          <a:prstGeom prst="rect">
            <a:avLst/>
          </a:prstGeom>
          <a:solidFill>
            <a:srgbClr val="141417"/>
          </a:solidFill>
          <a:ln w="6350">
            <a:solidFill>
              <a:srgbClr val="2C2C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54680" y="1508760"/>
            <a:ext cx="54864" cy="1920240"/>
          </a:xfrm>
          <a:prstGeom prst="rect">
            <a:avLst/>
          </a:prstGeom>
          <a:solidFill>
            <a:srgbClr val="7B6EF6"/>
          </a:solidFill>
          <a:ln w="12700">
            <a:solidFill>
              <a:srgbClr val="7B6E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9272" y="157276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B6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→✕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319272" y="2267712"/>
            <a:ext cx="22128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open their task manager — then immediately close it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852160" y="1508760"/>
            <a:ext cx="2468880" cy="1920240"/>
          </a:xfrm>
          <a:prstGeom prst="rect">
            <a:avLst/>
          </a:prstGeom>
          <a:solidFill>
            <a:srgbClr val="141417"/>
          </a:solidFill>
          <a:ln w="6350">
            <a:solidFill>
              <a:srgbClr val="2C2C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1508760"/>
            <a:ext cx="54864" cy="1920240"/>
          </a:xfrm>
          <a:prstGeom prst="rect">
            <a:avLst/>
          </a:prstGeom>
          <a:solidFill>
            <a:srgbClr val="7B6EF6"/>
          </a:solidFill>
          <a:ln w="12700">
            <a:solidFill>
              <a:srgbClr val="7B6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16752" y="157276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B6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016752" y="2267712"/>
            <a:ext cx="22128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load compounds. Tasks get dropped. It gets worse.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8229600" cy="804672"/>
          </a:xfrm>
          <a:prstGeom prst="rect">
            <a:avLst/>
          </a:prstGeom>
          <a:solidFill>
            <a:srgbClr val="0D0A1E"/>
          </a:solidFill>
          <a:ln w="8890">
            <a:solidFill>
              <a:srgbClr val="7B6E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621024"/>
            <a:ext cx="7863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"There is no app that meets you where you are emotionally AND gets things done."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4800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Synq meets you where you are.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10973"/>
          </a:xfrm>
          <a:prstGeom prst="rect">
            <a:avLst/>
          </a:prstGeom>
          <a:solidFill>
            <a:srgbClr val="2C2C32"/>
          </a:solidFill>
          <a:ln w="12700">
            <a:solidFill>
              <a:srgbClr val="2C2C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B6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426464"/>
            <a:ext cx="384048" cy="384048"/>
          </a:xfrm>
          <a:prstGeom prst="ellipse">
            <a:avLst/>
          </a:prstGeom>
          <a:solidFill>
            <a:srgbClr val="7B6EF6">
              <a:alpha val="20000"/>
            </a:srgbClr>
          </a:solidFill>
          <a:ln w="6350">
            <a:solidFill>
              <a:srgbClr val="7B6E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26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6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87552" y="13716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speak your mind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167335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Tasks, feelings, reminders — all in one sentence. No form-filling.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32304"/>
            <a:ext cx="384048" cy="384048"/>
          </a:xfrm>
          <a:prstGeom prst="ellipse">
            <a:avLst/>
          </a:prstGeom>
          <a:solidFill>
            <a:srgbClr val="7B6EF6">
              <a:alpha val="20000"/>
            </a:srgbClr>
          </a:solidFill>
          <a:ln w="6350">
            <a:solidFill>
              <a:srgbClr val="7B6E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6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87552" y="23774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Synq parses in &lt;3 seconds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87552" y="267919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NLP detects intent, extracts time references, identifies emotion.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38144"/>
            <a:ext cx="384048" cy="384048"/>
          </a:xfrm>
          <a:prstGeom prst="ellipse">
            <a:avLst/>
          </a:prstGeom>
          <a:solidFill>
            <a:srgbClr val="7B6EF6">
              <a:alpha val="20000"/>
            </a:srgbClr>
          </a:solidFill>
          <a:ln w="6350">
            <a:solidFill>
              <a:srgbClr val="7B6E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6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" y="33832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lands automatically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87552" y="368503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screen, right time, right format. Zero friction.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1005840"/>
            <a:ext cx="0" cy="3840480"/>
          </a:xfrm>
          <a:prstGeom prst="line">
            <a:avLst/>
          </a:prstGeom>
          <a:noFill/>
          <a:ln w="6350">
            <a:solidFill>
              <a:srgbClr val="2C2C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0515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B6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846320" y="1371600"/>
            <a:ext cx="3840480" cy="777240"/>
          </a:xfrm>
          <a:prstGeom prst="rect">
            <a:avLst/>
          </a:prstGeom>
          <a:solidFill>
            <a:srgbClr val="141417"/>
          </a:solidFill>
          <a:ln w="6350">
            <a:solidFill>
              <a:srgbClr val="2C2C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4173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feel overwhelmed. Buy groceries, finish the report, call Mom today at 5pm."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1945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B6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846320" y="2542032"/>
            <a:ext cx="3840480" cy="402336"/>
          </a:xfrm>
          <a:prstGeom prst="rect">
            <a:avLst/>
          </a:prstGeom>
          <a:solidFill>
            <a:srgbClr val="141417"/>
          </a:solidFill>
          <a:ln w="6350">
            <a:solidFill>
              <a:srgbClr val="2C2C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2542032"/>
            <a:ext cx="54864" cy="402336"/>
          </a:xfrm>
          <a:prstGeom prst="rect">
            <a:avLst/>
          </a:prstGeom>
          <a:solidFill>
            <a:srgbClr val="7B6EF6"/>
          </a:solidFill>
          <a:ln w="12700">
            <a:solidFill>
              <a:srgbClr val="7B6E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5694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Emotion: Overwhelmed (4/5)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2999232"/>
            <a:ext cx="3840480" cy="402336"/>
          </a:xfrm>
          <a:prstGeom prst="rect">
            <a:avLst/>
          </a:prstGeom>
          <a:solidFill>
            <a:srgbClr val="141417"/>
          </a:solidFill>
          <a:ln w="6350">
            <a:solidFill>
              <a:srgbClr val="2C2C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2999232"/>
            <a:ext cx="54864" cy="402336"/>
          </a:xfrm>
          <a:prstGeom prst="rect">
            <a:avLst/>
          </a:prstGeom>
          <a:solidFill>
            <a:srgbClr val="4ECBA0"/>
          </a:solidFill>
          <a:ln w="12700">
            <a:solidFill>
              <a:srgbClr val="4ECB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30266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Buy groceries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456432"/>
            <a:ext cx="3840480" cy="402336"/>
          </a:xfrm>
          <a:prstGeom prst="rect">
            <a:avLst/>
          </a:prstGeom>
          <a:solidFill>
            <a:srgbClr val="141417"/>
          </a:solidFill>
          <a:ln w="6350">
            <a:solidFill>
              <a:srgbClr val="2C2C3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456432"/>
            <a:ext cx="54864" cy="402336"/>
          </a:xfrm>
          <a:prstGeom prst="rect">
            <a:avLst/>
          </a:prstGeom>
          <a:solidFill>
            <a:srgbClr val="4ECBA0"/>
          </a:solidFill>
          <a:ln w="12700">
            <a:solidFill>
              <a:srgbClr val="4ECB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34838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Finish report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3913632"/>
            <a:ext cx="3840480" cy="402336"/>
          </a:xfrm>
          <a:prstGeom prst="rect">
            <a:avLst/>
          </a:prstGeom>
          <a:solidFill>
            <a:srgbClr val="141417"/>
          </a:solidFill>
          <a:ln w="6350">
            <a:solidFill>
              <a:srgbClr val="2C2C3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3913632"/>
            <a:ext cx="54864" cy="402336"/>
          </a:xfrm>
          <a:prstGeom prst="rect">
            <a:avLst/>
          </a:prstGeom>
          <a:solidFill>
            <a:srgbClr val="5BA4F5"/>
          </a:solidFill>
          <a:ln w="12700">
            <a:solidFill>
              <a:srgbClr val="5BA4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39410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Reminder: Call Mom · 17:00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4800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your brain needs. Nothing it doesn't.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10973"/>
          </a:xfrm>
          <a:prstGeom prst="rect">
            <a:avLst/>
          </a:prstGeom>
          <a:solidFill>
            <a:srgbClr val="2C2C32"/>
          </a:solidFill>
          <a:ln w="12700">
            <a:solidFill>
              <a:srgbClr val="2C2C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115568"/>
          </a:xfrm>
          <a:prstGeom prst="rect">
            <a:avLst/>
          </a:prstGeom>
          <a:solidFill>
            <a:srgbClr val="141417"/>
          </a:solidFill>
          <a:ln w="6350">
            <a:solidFill>
              <a:srgbClr val="2C2C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353312"/>
            <a:ext cx="502920" cy="502920"/>
          </a:xfrm>
          <a:prstGeom prst="ellipse">
            <a:avLst/>
          </a:prstGeom>
          <a:solidFill>
            <a:srgbClr val="7B6EF6">
              <a:alpha val="20000"/>
            </a:srgbClr>
          </a:solidFill>
          <a:ln w="6350">
            <a:solidFill>
              <a:srgbClr val="7B6E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⚡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61872" y="1188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Capture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61872" y="150876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Russian &amp; English NLP. Detects tasks, emotions, reminders in one sentence.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078992"/>
            <a:ext cx="3977640" cy="1115568"/>
          </a:xfrm>
          <a:prstGeom prst="rect">
            <a:avLst/>
          </a:prstGeom>
          <a:solidFill>
            <a:srgbClr val="141417"/>
          </a:solidFill>
          <a:ln w="6350">
            <a:solidFill>
              <a:srgbClr val="2C2C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65192" y="1353312"/>
            <a:ext cx="502920" cy="502920"/>
          </a:xfrm>
          <a:prstGeom prst="ellipse">
            <a:avLst/>
          </a:prstGeom>
          <a:solidFill>
            <a:srgbClr val="7B6EF6">
              <a:alpha val="20000"/>
            </a:srgbClr>
          </a:solidFill>
          <a:ln w="6350">
            <a:solidFill>
              <a:srgbClr val="7B6E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5192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♡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05272" y="1188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Tracking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05272" y="150876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mood chart with pattern recognition and intensity scoring.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313432"/>
            <a:ext cx="3977640" cy="1115568"/>
          </a:xfrm>
          <a:prstGeom prst="rect">
            <a:avLst/>
          </a:prstGeom>
          <a:solidFill>
            <a:srgbClr val="141417"/>
          </a:solidFill>
          <a:ln w="6350">
            <a:solidFill>
              <a:srgbClr val="2C2C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2587752"/>
            <a:ext cx="502920" cy="502920"/>
          </a:xfrm>
          <a:prstGeom prst="ellipse">
            <a:avLst/>
          </a:prstGeom>
          <a:solidFill>
            <a:srgbClr val="7B6EF6">
              <a:alpha val="20000"/>
            </a:srgbClr>
          </a:solidFill>
          <a:ln w="6350">
            <a:solidFill>
              <a:srgbClr val="7B6E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🔔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61872" y="2423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Reminders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61872" y="274320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extracted from speech. Full calendar view. Nothing falls through.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2313432"/>
            <a:ext cx="3977640" cy="1115568"/>
          </a:xfrm>
          <a:prstGeom prst="rect">
            <a:avLst/>
          </a:prstGeom>
          <a:solidFill>
            <a:srgbClr val="141417"/>
          </a:solidFill>
          <a:ln w="6350">
            <a:solidFill>
              <a:srgbClr val="2C2C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65192" y="2587752"/>
            <a:ext cx="502920" cy="502920"/>
          </a:xfrm>
          <a:prstGeom prst="ellipse">
            <a:avLst/>
          </a:prstGeom>
          <a:solidFill>
            <a:srgbClr val="7B6EF6">
              <a:alpha val="20000"/>
            </a:srgbClr>
          </a:solidFill>
          <a:ln w="6350">
            <a:solidFill>
              <a:srgbClr val="7B6E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🌬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05272" y="2423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Breathing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05272" y="274320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4-4-4-4 breathing exercise for overwhelm moments. One tap away.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547872"/>
            <a:ext cx="3977640" cy="1115568"/>
          </a:xfrm>
          <a:prstGeom prst="rect">
            <a:avLst/>
          </a:prstGeom>
          <a:solidFill>
            <a:srgbClr val="141417"/>
          </a:solidFill>
          <a:ln w="6350">
            <a:solidFill>
              <a:srgbClr val="2C2C3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" y="3822192"/>
            <a:ext cx="502920" cy="502920"/>
          </a:xfrm>
          <a:prstGeom prst="ellipse">
            <a:avLst/>
          </a:prstGeom>
          <a:solidFill>
            <a:srgbClr val="7B6EF6">
              <a:alpha val="20000"/>
            </a:srgbClr>
          </a:solidFill>
          <a:ln w="6350">
            <a:solidFill>
              <a:srgbClr val="7B6E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💬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61872" y="3657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Companion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61872" y="397764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"Talk to Synq" — judgment-free chat for when you need to process.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00600" y="3547872"/>
            <a:ext cx="3977640" cy="1115568"/>
          </a:xfrm>
          <a:prstGeom prst="rect">
            <a:avLst/>
          </a:prstGeom>
          <a:solidFill>
            <a:srgbClr val="141417"/>
          </a:solidFill>
          <a:ln w="6350">
            <a:solidFill>
              <a:srgbClr val="2C2C3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65192" y="3822192"/>
            <a:ext cx="502920" cy="502920"/>
          </a:xfrm>
          <a:prstGeom prst="ellipse">
            <a:avLst/>
          </a:prstGeom>
          <a:solidFill>
            <a:srgbClr val="7B6EF6">
              <a:alpha val="20000"/>
            </a:srgbClr>
          </a:solidFill>
          <a:ln w="6350">
            <a:solidFill>
              <a:srgbClr val="7B6E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65192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📱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605272" y="3657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PWA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05272" y="397764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internet. Installs on any device. No app store.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4800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$102B market. An $8.4B niche nobody has claimed.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10973"/>
          </a:xfrm>
          <a:prstGeom prst="rect">
            <a:avLst/>
          </a:prstGeom>
          <a:solidFill>
            <a:srgbClr val="2C2C32"/>
          </a:solidFill>
          <a:ln w="12700">
            <a:solidFill>
              <a:srgbClr val="2C2C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4023360" cy="841248"/>
          </a:xfrm>
          <a:prstGeom prst="rect">
            <a:avLst/>
          </a:prstGeom>
          <a:solidFill>
            <a:srgbClr val="141417"/>
          </a:solidFill>
          <a:ln w="6350">
            <a:solidFill>
              <a:srgbClr val="2C2C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841248"/>
          </a:xfrm>
          <a:prstGeom prst="rect">
            <a:avLst/>
          </a:prstGeom>
          <a:solidFill>
            <a:srgbClr val="5BA4F5"/>
          </a:solidFill>
          <a:ln w="12700">
            <a:solidFill>
              <a:srgbClr val="5BA4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7043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A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80160" y="11338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$102B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15727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productivity software — 14% CAGR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4023360" cy="841248"/>
          </a:xfrm>
          <a:prstGeom prst="rect">
            <a:avLst/>
          </a:prstGeom>
          <a:solidFill>
            <a:srgbClr val="141417"/>
          </a:solidFill>
          <a:ln w="6350">
            <a:solidFill>
              <a:srgbClr val="2C2C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057400"/>
            <a:ext cx="54864" cy="841248"/>
          </a:xfrm>
          <a:prstGeom prst="rect">
            <a:avLst/>
          </a:prstGeom>
          <a:solidFill>
            <a:srgbClr val="7B6EF6"/>
          </a:solidFill>
          <a:ln w="12700">
            <a:solidFill>
              <a:srgbClr val="7B6E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13055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6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80160" y="209397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$8.4B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0080" y="25328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+ productivity intersection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23360" cy="841248"/>
          </a:xfrm>
          <a:prstGeom prst="rect">
            <a:avLst/>
          </a:prstGeom>
          <a:solidFill>
            <a:srgbClr val="141417"/>
          </a:solidFill>
          <a:ln w="6350">
            <a:solidFill>
              <a:srgbClr val="2C2C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017520"/>
            <a:ext cx="54864" cy="841248"/>
          </a:xfrm>
          <a:prstGeom prst="rect">
            <a:avLst/>
          </a:prstGeom>
          <a:solidFill>
            <a:srgbClr val="4ECBA0"/>
          </a:solidFill>
          <a:ln w="12700">
            <a:solidFill>
              <a:srgbClr val="4ECB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09067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EC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80160" y="305409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$420M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0080" y="349300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productivity niche — 3-year target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822960"/>
            <a:ext cx="3840480" cy="3840480"/>
          </a:xfrm>
          <a:prstGeom prst="ellipse">
            <a:avLst/>
          </a:prstGeom>
          <a:solidFill>
            <a:srgbClr val="5BA4F5">
              <a:alpha val="12000"/>
            </a:srgbClr>
          </a:solidFill>
          <a:ln w="10160">
            <a:solidFill>
              <a:srgbClr val="5BA4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49240" y="1417320"/>
            <a:ext cx="2651760" cy="2651760"/>
          </a:xfrm>
          <a:prstGeom prst="ellipse">
            <a:avLst/>
          </a:prstGeom>
          <a:solidFill>
            <a:srgbClr val="7B6EF6">
              <a:alpha val="17000"/>
            </a:srgbClr>
          </a:solidFill>
          <a:ln w="10160">
            <a:solidFill>
              <a:srgbClr val="7B6E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89320" y="2057400"/>
            <a:ext cx="1371600" cy="1371600"/>
          </a:xfrm>
          <a:prstGeom prst="ellipse">
            <a:avLst/>
          </a:prstGeom>
          <a:solidFill>
            <a:srgbClr val="4ECBA0">
              <a:alpha val="28000"/>
            </a:srgbClr>
          </a:solidFill>
          <a:ln w="10160">
            <a:solidFill>
              <a:srgbClr val="4ECB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43800" y="8229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A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5BA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$102B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040880" y="14173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B6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7B6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$8.4B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80760" y="24963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$420M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80760" y="275234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EC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Post-pandemic mental health awareness is permanent. ADHD diagnoses up 60% since 2020.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4800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converged. Right now.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10973"/>
          </a:xfrm>
          <a:prstGeom prst="rect">
            <a:avLst/>
          </a:prstGeom>
          <a:solidFill>
            <a:srgbClr val="2C2C32"/>
          </a:solidFill>
          <a:ln w="12700">
            <a:solidFill>
              <a:srgbClr val="2C2C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960120"/>
          </a:xfrm>
          <a:prstGeom prst="rect">
            <a:avLst/>
          </a:prstGeom>
          <a:solidFill>
            <a:srgbClr val="141417"/>
          </a:solidFill>
          <a:ln w="6350">
            <a:solidFill>
              <a:srgbClr val="2C2C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960120"/>
          </a:xfrm>
          <a:prstGeom prst="rect">
            <a:avLst/>
          </a:prstGeom>
          <a:solidFill>
            <a:srgbClr val="7B6EF6"/>
          </a:solidFill>
          <a:ln w="12700">
            <a:solidFill>
              <a:srgbClr val="7B6E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170432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6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353312" y="1225296"/>
            <a:ext cx="0" cy="694944"/>
          </a:xfrm>
          <a:prstGeom prst="line">
            <a:avLst/>
          </a:prstGeom>
          <a:noFill/>
          <a:ln w="6350">
            <a:solidFill>
              <a:srgbClr val="2C2C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1170432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LLMs made real-time NLP cost &lt;$0.001 per capture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08760" y="1499616"/>
            <a:ext cx="7040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voice into structured tasks + emotions + reminders costs almost nothing in 2026. This was impossible at scale three years ago.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176272"/>
            <a:ext cx="8229600" cy="960120"/>
          </a:xfrm>
          <a:prstGeom prst="rect">
            <a:avLst/>
          </a:prstGeom>
          <a:solidFill>
            <a:srgbClr val="141417"/>
          </a:solidFill>
          <a:ln w="6350">
            <a:solidFill>
              <a:srgbClr val="2C2C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176272"/>
            <a:ext cx="54864" cy="960120"/>
          </a:xfrm>
          <a:prstGeom prst="rect">
            <a:avLst/>
          </a:prstGeom>
          <a:solidFill>
            <a:srgbClr val="7B6EF6"/>
          </a:solidFill>
          <a:ln w="12700">
            <a:solidFill>
              <a:srgbClr val="7B6E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249424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6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353312" y="2304288"/>
            <a:ext cx="0" cy="694944"/>
          </a:xfrm>
          <a:prstGeom prst="line">
            <a:avLst/>
          </a:prstGeom>
          <a:noFill/>
          <a:ln w="6350">
            <a:solidFill>
              <a:srgbClr val="2C2C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2249424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 67% of US adults use voice input weekly (up from 31% in 2021)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08760" y="2578608"/>
            <a:ext cx="7040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interaction has crossed the mainstream threshold. The behavior already exists — we just meet it with the right product.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255264"/>
            <a:ext cx="8229600" cy="960120"/>
          </a:xfrm>
          <a:prstGeom prst="rect">
            <a:avLst/>
          </a:prstGeom>
          <a:solidFill>
            <a:srgbClr val="141417"/>
          </a:solidFill>
          <a:ln w="6350">
            <a:solidFill>
              <a:srgbClr val="2C2C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255264"/>
            <a:ext cx="54864" cy="960120"/>
          </a:xfrm>
          <a:prstGeom prst="rect">
            <a:avLst/>
          </a:prstGeom>
          <a:solidFill>
            <a:srgbClr val="7B6EF6"/>
          </a:solidFill>
          <a:ln w="12700">
            <a:solidFill>
              <a:srgbClr val="7B6E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328416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6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353312" y="3383280"/>
            <a:ext cx="0" cy="694944"/>
          </a:xfrm>
          <a:prstGeom prst="line">
            <a:avLst/>
          </a:prstGeom>
          <a:noFill/>
          <a:ln w="6350">
            <a:solidFill>
              <a:srgbClr val="2C2C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08760" y="3328416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💜  Mental health destigmatization is permanent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08760" y="3657600"/>
            <a:ext cx="7040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actively seek tools that acknowledge their emotional state. Headspace at $2B valuation proved the willingness to pay.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370832"/>
            <a:ext cx="8229600" cy="475488"/>
          </a:xfrm>
          <a:prstGeom prst="rect">
            <a:avLst/>
          </a:prstGeom>
          <a:solidFill>
            <a:srgbClr val="0D0A1E"/>
          </a:solidFill>
          <a:ln w="7620">
            <a:solidFill>
              <a:srgbClr val="7B6E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389120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"Headspace proved it at $2B valuation. We're building the convergence product: voice-first, emotionally aware, AI-organized."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4800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moat isn't features. It's philosophy.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10973"/>
          </a:xfrm>
          <a:prstGeom prst="rect">
            <a:avLst/>
          </a:prstGeom>
          <a:solidFill>
            <a:srgbClr val="2C2C32"/>
          </a:solidFill>
          <a:ln w="12700">
            <a:solidFill>
              <a:srgbClr val="2C2C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2633472" cy="3611880"/>
          </a:xfrm>
          <a:prstGeom prst="rect">
            <a:avLst/>
          </a:prstGeom>
          <a:solidFill>
            <a:srgbClr val="141417"/>
          </a:solidFill>
          <a:ln w="6350">
            <a:solidFill>
              <a:srgbClr val="2C2C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78992"/>
            <a:ext cx="2633472" cy="64008"/>
          </a:xfrm>
          <a:prstGeom prst="rect">
            <a:avLst/>
          </a:prstGeom>
          <a:solidFill>
            <a:srgbClr val="7B6EF6"/>
          </a:solidFill>
          <a:ln w="12700">
            <a:solidFill>
              <a:srgbClr val="7B6E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08176" y="1298448"/>
            <a:ext cx="713232" cy="713232"/>
          </a:xfrm>
          <a:prstGeom prst="ellipse">
            <a:avLst/>
          </a:prstGeom>
          <a:solidFill>
            <a:srgbClr val="7B6EF6">
              <a:alpha val="18000"/>
            </a:srgbClr>
          </a:solidFill>
          <a:ln w="6350">
            <a:solidFill>
              <a:srgbClr val="7B6E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08176" y="129844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66928" y="2084832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6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UX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2505456"/>
            <a:ext cx="2304288" cy="2029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decision starts with "how does this make the user feel?" This cannot be copied by adding an emotion toggle — it requires fundamentally rethinking UX from scratch.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078992"/>
            <a:ext cx="2633472" cy="3611880"/>
          </a:xfrm>
          <a:prstGeom prst="rect">
            <a:avLst/>
          </a:prstGeom>
          <a:solidFill>
            <a:srgbClr val="141417"/>
          </a:solidFill>
          <a:ln w="6350">
            <a:solidFill>
              <a:srgbClr val="2C2C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078992"/>
            <a:ext cx="2633472" cy="64008"/>
          </a:xfrm>
          <a:prstGeom prst="rect">
            <a:avLst/>
          </a:prstGeom>
          <a:solidFill>
            <a:srgbClr val="5BA4F5"/>
          </a:solidFill>
          <a:ln w="12700">
            <a:solidFill>
              <a:srgbClr val="5BA4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42816" y="1298448"/>
            <a:ext cx="713232" cy="713232"/>
          </a:xfrm>
          <a:prstGeom prst="ellipse">
            <a:avLst/>
          </a:prstGeom>
          <a:solidFill>
            <a:srgbClr val="5BA4F5">
              <a:alpha val="18000"/>
            </a:srgbClr>
          </a:solidFill>
          <a:ln w="6350">
            <a:solidFill>
              <a:srgbClr val="5BA4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42816" y="129844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🎙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01568" y="2084832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A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NLP Engine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56432" y="2505456"/>
            <a:ext cx="2304288" cy="2029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fragmented, anxious, run-on speech that standard parsers fail on entirely. "I feel bad but I need to... and also..." — our parser gets it. Custom grammar model.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078992"/>
            <a:ext cx="2633472" cy="3611880"/>
          </a:xfrm>
          <a:prstGeom prst="rect">
            <a:avLst/>
          </a:prstGeom>
          <a:solidFill>
            <a:srgbClr val="141417"/>
          </a:solidFill>
          <a:ln w="6350">
            <a:solidFill>
              <a:srgbClr val="2C2C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078992"/>
            <a:ext cx="2633472" cy="64008"/>
          </a:xfrm>
          <a:prstGeom prst="rect">
            <a:avLst/>
          </a:prstGeom>
          <a:solidFill>
            <a:srgbClr val="4ECBA0"/>
          </a:solidFill>
          <a:ln w="12700">
            <a:solidFill>
              <a:srgbClr val="4ECB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77456" y="1298448"/>
            <a:ext cx="713232" cy="713232"/>
          </a:xfrm>
          <a:prstGeom prst="ellipse">
            <a:avLst/>
          </a:prstGeom>
          <a:solidFill>
            <a:srgbClr val="4ECBA0">
              <a:alpha val="18000"/>
            </a:srgbClr>
          </a:solidFill>
          <a:ln w="6350">
            <a:solidFill>
              <a:srgbClr val="4ECB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77456" y="129844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📣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36208" y="2084832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C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Distribution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91072" y="2505456"/>
            <a:ext cx="2304288" cy="2029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r/ADHD (1.7M members), therapist partner channels, ADHD coaches. Trust-based virality in communities actively seeking tools like this — no paid ads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4800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Pre-seed. Fully functional. Built in weeks.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10973"/>
          </a:xfrm>
          <a:prstGeom prst="rect">
            <a:avLst/>
          </a:prstGeom>
          <a:solidFill>
            <a:srgbClr val="2C2C32"/>
          </a:solidFill>
          <a:ln w="12700">
            <a:solidFill>
              <a:srgbClr val="2C2C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B6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BUILT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435608"/>
            <a:ext cx="292608" cy="292608"/>
          </a:xfrm>
          <a:prstGeom prst="ellipse">
            <a:avLst/>
          </a:prstGeom>
          <a:solidFill>
            <a:srgbClr val="4ECBA0">
              <a:alpha val="25000"/>
            </a:srgbClr>
          </a:solidFill>
          <a:ln w="6350">
            <a:solidFill>
              <a:srgbClr val="4ECB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C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77824" y="138988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React/Next.js web app — live at synq-web.vercel.app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002536"/>
            <a:ext cx="292608" cy="292608"/>
          </a:xfrm>
          <a:prstGeom prst="ellipse">
            <a:avLst/>
          </a:prstGeom>
          <a:solidFill>
            <a:srgbClr val="4ECBA0">
              <a:alpha val="25000"/>
            </a:srgbClr>
          </a:solidFill>
          <a:ln w="6350">
            <a:solidFill>
              <a:srgbClr val="4ECB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C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77824" y="195681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mobile app (Android, tested on device)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569464"/>
            <a:ext cx="292608" cy="292608"/>
          </a:xfrm>
          <a:prstGeom prst="ellipse">
            <a:avLst/>
          </a:prstGeom>
          <a:solidFill>
            <a:srgbClr val="4ECBA0">
              <a:alpha val="25000"/>
            </a:srgbClr>
          </a:solidFill>
          <a:ln w="6350">
            <a:solidFill>
              <a:srgbClr val="4ECB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69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C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77824" y="252374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capture + NLP parser (Russian + English)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136392"/>
            <a:ext cx="292608" cy="292608"/>
          </a:xfrm>
          <a:prstGeom prst="ellipse">
            <a:avLst/>
          </a:prstGeom>
          <a:solidFill>
            <a:srgbClr val="4ECBA0">
              <a:alpha val="25000"/>
            </a:srgbClr>
          </a:solidFill>
          <a:ln w="6350">
            <a:solidFill>
              <a:srgbClr val="4ECB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36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C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77824" y="309067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tracking, reminders, breathing, AI chat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292608" cy="292608"/>
          </a:xfrm>
          <a:prstGeom prst="ellipse">
            <a:avLst/>
          </a:prstGeom>
          <a:solidFill>
            <a:srgbClr val="4ECBA0">
              <a:alpha val="25000"/>
            </a:srgbClr>
          </a:solidFill>
          <a:ln w="6350">
            <a:solidFill>
              <a:srgbClr val="4ECB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C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7824" y="3657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Jest test suite (33 passing) + CI/CD pipeline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17720" y="1005840"/>
            <a:ext cx="0" cy="3840480"/>
          </a:xfrm>
          <a:prstGeom prst="line">
            <a:avLst/>
          </a:prstGeom>
          <a:noFill/>
          <a:ln w="6350">
            <a:solidFill>
              <a:srgbClr val="2C2C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0515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B6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46320" y="1389888"/>
            <a:ext cx="3840480" cy="2148840"/>
          </a:xfrm>
          <a:prstGeom prst="rect">
            <a:avLst/>
          </a:prstGeom>
          <a:solidFill>
            <a:srgbClr val="0D0A1E"/>
          </a:solidFill>
          <a:ln w="8890">
            <a:solidFill>
              <a:srgbClr val="7B6E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10912" y="1481328"/>
            <a:ext cx="35204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"Built solo using AI-native development — itself a demonstration of what's possible in 2026.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previously required a team of 5 engineers took one focused founder weeks to build end-to-end."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3703320"/>
            <a:ext cx="886968" cy="777240"/>
          </a:xfrm>
          <a:prstGeom prst="rect">
            <a:avLst/>
          </a:prstGeom>
          <a:solidFill>
            <a:srgbClr val="141417"/>
          </a:solidFill>
          <a:ln w="6350">
            <a:solidFill>
              <a:srgbClr val="2C2C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749040"/>
            <a:ext cx="886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6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846320" y="4133088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06440" y="3703320"/>
            <a:ext cx="886968" cy="777240"/>
          </a:xfrm>
          <a:prstGeom prst="rect">
            <a:avLst/>
          </a:prstGeom>
          <a:solidFill>
            <a:srgbClr val="141417"/>
          </a:solidFill>
          <a:ln w="6350">
            <a:solidFill>
              <a:srgbClr val="2C2C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06440" y="3749040"/>
            <a:ext cx="886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6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806440" y="4133088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766560" y="3703320"/>
            <a:ext cx="886968" cy="777240"/>
          </a:xfrm>
          <a:prstGeom prst="rect">
            <a:avLst/>
          </a:prstGeom>
          <a:solidFill>
            <a:srgbClr val="141417"/>
          </a:solidFill>
          <a:ln w="6350">
            <a:solidFill>
              <a:srgbClr val="2C2C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3749040"/>
            <a:ext cx="886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6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766560" y="4133088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726680" y="3703320"/>
            <a:ext cx="886968" cy="777240"/>
          </a:xfrm>
          <a:prstGeom prst="rect">
            <a:avLst/>
          </a:prstGeom>
          <a:solidFill>
            <a:srgbClr val="141417"/>
          </a:solidFill>
          <a:ln w="6350">
            <a:solidFill>
              <a:srgbClr val="2C2C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26680" y="3749040"/>
            <a:ext cx="886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6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726680" y="4133088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4800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founder. AI-amplified.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10973"/>
          </a:xfrm>
          <a:prstGeom prst="rect">
            <a:avLst/>
          </a:prstGeom>
          <a:solidFill>
            <a:srgbClr val="2C2C32"/>
          </a:solidFill>
          <a:ln w="12700">
            <a:solidFill>
              <a:srgbClr val="2C2C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188720"/>
            <a:ext cx="1463040" cy="1463040"/>
          </a:xfrm>
          <a:prstGeom prst="ellipse">
            <a:avLst/>
          </a:prstGeom>
          <a:solidFill>
            <a:srgbClr val="7B6EF6">
              <a:alpha val="24000"/>
            </a:srgbClr>
          </a:solidFill>
          <a:ln w="12700">
            <a:solidFill>
              <a:srgbClr val="7B6E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8872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👤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286000" y="1188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286000" y="16276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6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0" y="1938528"/>
            <a:ext cx="6400800" cy="777240"/>
          </a:xfrm>
          <a:prstGeom prst="rect">
            <a:avLst/>
          </a:prstGeom>
          <a:solidFill>
            <a:srgbClr val="141417"/>
          </a:solidFill>
          <a:ln w="6350">
            <a:solidFill>
              <a:srgbClr val="2C2C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984248"/>
            <a:ext cx="6126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8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[Replace with: 2 sentences on technical background and relevant experience]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A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for a technical co-founder through Speedrun's network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1821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/ ML background · Voice AI pipeline ownership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675888"/>
            <a:ext cx="8229600" cy="841248"/>
          </a:xfrm>
          <a:prstGeom prst="rect">
            <a:avLst/>
          </a:prstGeom>
          <a:solidFill>
            <a:srgbClr val="0D0A1E"/>
          </a:solidFill>
          <a:ln w="8890">
            <a:solidFill>
              <a:srgbClr val="7B6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730752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tool stack of 2026 lets a single focused founder build what previously required a team of 5.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Synq is the proof."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4800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$250K–$500K pre-seed. Here's what we need from Speedrun.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10973"/>
          </a:xfrm>
          <a:prstGeom prst="rect">
            <a:avLst/>
          </a:prstGeom>
          <a:solidFill>
            <a:srgbClr val="2C2C32"/>
          </a:solidFill>
          <a:ln w="12700">
            <a:solidFill>
              <a:srgbClr val="2C2C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4EC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3840480" cy="658368"/>
          </a:xfrm>
          <a:prstGeom prst="rect">
            <a:avLst/>
          </a:prstGeom>
          <a:solidFill>
            <a:srgbClr val="141417"/>
          </a:solidFill>
          <a:ln w="8890">
            <a:solidFill>
              <a:srgbClr val="4ECB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89888"/>
            <a:ext cx="3566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$250K – $500K (SAFE)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3840480" cy="658368"/>
          </a:xfrm>
          <a:prstGeom prst="rect">
            <a:avLst/>
          </a:prstGeom>
          <a:solidFill>
            <a:srgbClr val="141417"/>
          </a:solidFill>
          <a:ln w="6350">
            <a:solidFill>
              <a:srgbClr val="2C2C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52344"/>
            <a:ext cx="2304288" cy="54864"/>
          </a:xfrm>
          <a:prstGeom prst="rect">
            <a:avLst/>
          </a:prstGeom>
          <a:solidFill>
            <a:srgbClr val="7B6EF6"/>
          </a:solidFill>
          <a:ln w="12700">
            <a:solidFill>
              <a:srgbClr val="7B6E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8541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6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22037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245973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AI pipeline, mobile polish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98648"/>
            <a:ext cx="3840480" cy="658368"/>
          </a:xfrm>
          <a:prstGeom prst="rect">
            <a:avLst/>
          </a:prstGeom>
          <a:solidFill>
            <a:srgbClr val="141417"/>
          </a:solidFill>
          <a:ln w="6350">
            <a:solidFill>
              <a:srgbClr val="2C2C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02152"/>
            <a:ext cx="960120" cy="54864"/>
          </a:xfrm>
          <a:prstGeom prst="rect">
            <a:avLst/>
          </a:prstGeom>
          <a:solidFill>
            <a:srgbClr val="5BA4F5"/>
          </a:solidFill>
          <a:ln w="12700">
            <a:solidFill>
              <a:srgbClr val="5BA4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935224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A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25880" y="2953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Acquisition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25880" y="3209544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ADHD communities, therapist channels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648456"/>
            <a:ext cx="3840480" cy="658368"/>
          </a:xfrm>
          <a:prstGeom prst="rect">
            <a:avLst/>
          </a:prstGeom>
          <a:solidFill>
            <a:srgbClr val="141417"/>
          </a:solidFill>
          <a:ln w="6350">
            <a:solidFill>
              <a:srgbClr val="2C2C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251960"/>
            <a:ext cx="576072" cy="54864"/>
          </a:xfrm>
          <a:prstGeom prst="rect">
            <a:avLst/>
          </a:prstGeom>
          <a:solidFill>
            <a:srgbClr val="4ECBA0"/>
          </a:solidFill>
          <a:ln w="12700">
            <a:solidFill>
              <a:srgbClr val="4ECB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685032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C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25880" y="3703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25880" y="395935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Infrastructure, legal, tools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1005840"/>
            <a:ext cx="0" cy="3840480"/>
          </a:xfrm>
          <a:prstGeom prst="line">
            <a:avLst/>
          </a:prstGeom>
          <a:noFill/>
          <a:ln w="6350">
            <a:solidFill>
              <a:srgbClr val="2C2C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0515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B6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SPEEDRUN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46320" y="1353312"/>
            <a:ext cx="3840480" cy="868680"/>
          </a:xfrm>
          <a:prstGeom prst="rect">
            <a:avLst/>
          </a:prstGeom>
          <a:solidFill>
            <a:srgbClr val="141417"/>
          </a:solidFill>
          <a:ln w="6350">
            <a:solidFill>
              <a:srgbClr val="2C2C3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1353312"/>
            <a:ext cx="54864" cy="868680"/>
          </a:xfrm>
          <a:prstGeom prst="rect">
            <a:avLst/>
          </a:prstGeom>
          <a:solidFill>
            <a:srgbClr val="7B6EF6"/>
          </a:solidFill>
          <a:ln w="12700">
            <a:solidFill>
              <a:srgbClr val="7B6E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140817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6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394960" y="13990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Validation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83480" y="1719072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positioning vs. productivity positioning — which horse to back first. a16z operators can stress-test this with real market data.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46320" y="2340864"/>
            <a:ext cx="3840480" cy="868680"/>
          </a:xfrm>
          <a:prstGeom prst="rect">
            <a:avLst/>
          </a:prstGeom>
          <a:solidFill>
            <a:srgbClr val="141417"/>
          </a:solidFill>
          <a:ln w="6350">
            <a:solidFill>
              <a:srgbClr val="2C2C3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2340864"/>
            <a:ext cx="54864" cy="868680"/>
          </a:xfrm>
          <a:prstGeom prst="rect">
            <a:avLst/>
          </a:prstGeom>
          <a:solidFill>
            <a:srgbClr val="5BA4F5"/>
          </a:solidFill>
          <a:ln w="12700">
            <a:solidFill>
              <a:srgbClr val="5BA4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239572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A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394960" y="238658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83480" y="2706624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health apps, ADHD communities, App Store editorial. Your network compresses our user acquisition timeline by 6–12 months.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46320" y="3328416"/>
            <a:ext cx="3840480" cy="868680"/>
          </a:xfrm>
          <a:prstGeom prst="rect">
            <a:avLst/>
          </a:prstGeom>
          <a:solidFill>
            <a:srgbClr val="141417"/>
          </a:solidFill>
          <a:ln w="6350">
            <a:solidFill>
              <a:srgbClr val="2C2C3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3328416"/>
            <a:ext cx="54864" cy="868680"/>
          </a:xfrm>
          <a:prstGeom prst="rect">
            <a:avLst/>
          </a:prstGeom>
          <a:solidFill>
            <a:srgbClr val="4ECBA0"/>
          </a:solidFill>
          <a:ln w="12700">
            <a:solidFill>
              <a:srgbClr val="4ECB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33832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EC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394960" y="337413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Co-Founder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983480" y="3694176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co-founder with mobile/ML background to own the voice AI pipeline. Speedrun's founder network is the right place to find them.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" y="4462272"/>
            <a:ext cx="8229600" cy="457200"/>
          </a:xfrm>
          <a:prstGeom prst="rect">
            <a:avLst/>
          </a:prstGeom>
          <a:solidFill>
            <a:srgbClr val="7B6EF6">
              <a:alpha val="12000"/>
            </a:srgbClr>
          </a:solidFill>
          <a:ln w="6350">
            <a:solidFill>
              <a:srgbClr val="7B6E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4480560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E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synq-web.vercel.app  ·  "The only productivity app that asks how you're feeling before it asks what you need to do."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Synq — Investor Pitch Deck</dc:title>
  <dc:subject>PptxGenJS Presentation</dc:subject>
  <dc:creator>Synq</dc:creator>
  <cp:lastModifiedBy>Synq</cp:lastModifiedBy>
  <cp:revision>1</cp:revision>
  <dcterms:created xsi:type="dcterms:W3CDTF">2026-05-17T18:37:41Z</dcterms:created>
  <dcterms:modified xsi:type="dcterms:W3CDTF">2026-05-17T18:37:41Z</dcterms:modified>
</cp:coreProperties>
</file>